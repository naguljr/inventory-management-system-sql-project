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4" r:id="rId8"/>
    <p:sldId id="266" r:id="rId9"/>
    <p:sldId id="268" r:id="rId10"/>
    <p:sldId id="270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8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38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accent1"/>
                </a:solidFill>
              </a:rPr>
              <a:t>SQL PROJECT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C58F4-25B5-8952-799E-1E27CAEB8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INVENTORY MANAGEMENT SYSTEM (IMS)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682B4"/>
                </a:solidFill>
              </a:defRPr>
            </a:pPr>
            <a: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• Introduction</a:t>
            </a:r>
          </a:p>
          <a:p>
            <a:r>
              <a:rPr dirty="0">
                <a:solidFill>
                  <a:schemeClr val="bg1"/>
                </a:solidFill>
              </a:rPr>
              <a:t>• Role of SQL</a:t>
            </a:r>
          </a:p>
          <a:p>
            <a:r>
              <a:rPr dirty="0">
                <a:solidFill>
                  <a:schemeClr val="bg1"/>
                </a:solidFill>
              </a:rPr>
              <a:t>• ER Diagram</a:t>
            </a:r>
          </a:p>
          <a:p>
            <a:r>
              <a:rPr dirty="0">
                <a:solidFill>
                  <a:schemeClr val="bg1"/>
                </a:solidFill>
              </a:rPr>
              <a:t>• Stored Procedures</a:t>
            </a:r>
          </a:p>
          <a:p>
            <a:r>
              <a:rPr dirty="0">
                <a:solidFill>
                  <a:schemeClr val="bg1"/>
                </a:solidFill>
              </a:rPr>
              <a:t>• Summary</a:t>
            </a:r>
          </a:p>
          <a:p>
            <a:r>
              <a:rPr dirty="0">
                <a:solidFill>
                  <a:schemeClr val="bg1"/>
                </a:solidFill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682B4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The Inventory Management System (IMS) is a SQL-driven warehouse solution</a:t>
            </a:r>
            <a:r>
              <a:rPr lang="en-US" dirty="0"/>
              <a:t>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lang="en-US" dirty="0"/>
              <a:t>It </a:t>
            </a:r>
            <a:r>
              <a:rPr dirty="0"/>
              <a:t>used to track</a:t>
            </a:r>
            <a:r>
              <a:rPr lang="en-US" dirty="0"/>
              <a:t> </a:t>
            </a:r>
            <a:r>
              <a:rPr dirty="0">
                <a:solidFill>
                  <a:schemeClr val="bg1"/>
                </a:solidFill>
              </a:rPr>
              <a:t>products, suppliers, stock levels, customer orders, and warehou</a:t>
            </a:r>
            <a:r>
              <a:rPr lang="en-US" dirty="0">
                <a:solidFill>
                  <a:schemeClr val="bg1"/>
                </a:solidFill>
              </a:rPr>
              <a:t>se inventory.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bg1"/>
                </a:solidFill>
              </a:rPr>
              <a:t>It enhances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accuracy, reduces manual errors, and improves operational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4682B4"/>
                </a:solidFill>
              </a:defRPr>
            </a:pPr>
            <a:r>
              <a:rPr dirty="0"/>
              <a:t>ROLE OF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SQL ensures:</a:t>
            </a:r>
          </a:p>
          <a:p>
            <a:r>
              <a:rPr dirty="0">
                <a:solidFill>
                  <a:schemeClr val="bg1"/>
                </a:solidFill>
              </a:rPr>
              <a:t>• Real-time stock tracking</a:t>
            </a:r>
          </a:p>
          <a:p>
            <a:r>
              <a:rPr dirty="0">
                <a:solidFill>
                  <a:schemeClr val="bg1"/>
                </a:solidFill>
              </a:rPr>
              <a:t>• Accurate relational data consistency</a:t>
            </a:r>
          </a:p>
          <a:p>
            <a:r>
              <a:rPr dirty="0">
                <a:solidFill>
                  <a:schemeClr val="bg1"/>
                </a:solidFill>
              </a:rPr>
              <a:t>• Inventory automation using stored procedures</a:t>
            </a:r>
          </a:p>
          <a:p>
            <a:r>
              <a:rPr dirty="0">
                <a:solidFill>
                  <a:schemeClr val="bg1"/>
                </a:solidFill>
              </a:rPr>
              <a:t>• Actionable reporting for business decisions</a:t>
            </a:r>
          </a:p>
          <a:p>
            <a:r>
              <a:rPr dirty="0">
                <a:solidFill>
                  <a:schemeClr val="bg1"/>
                </a:solidFill>
              </a:rPr>
              <a:t>• Multi-table joins for complex warehouse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ERD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Products ↔ Categories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Products ↔ Inventory ↔ Warehouses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Products ↔ </a:t>
            </a:r>
            <a:r>
              <a:rPr dirty="0" err="1"/>
              <a:t>ProductSuppliers</a:t>
            </a:r>
            <a:r>
              <a:rPr dirty="0"/>
              <a:t> ↔ Suppliers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/>
              <a:t>Orders ↔ </a:t>
            </a:r>
            <a:r>
              <a:rPr dirty="0" err="1"/>
              <a:t>OrderItems</a:t>
            </a:r>
            <a:r>
              <a:rPr dirty="0"/>
              <a:t> ↔ Products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StockMovements</a:t>
            </a:r>
            <a:r>
              <a:rPr dirty="0"/>
              <a:t> ↔ Products / Warehouses / Suppliers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097" y="310719"/>
            <a:ext cx="7820297" cy="154577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4682B4"/>
                </a:solidFill>
              </a:defRPr>
            </a:pPr>
            <a:r>
              <a:rPr sz="2400" dirty="0"/>
              <a:t>ER </a:t>
            </a:r>
            <a:r>
              <a:rPr lang="en-US" sz="2400" dirty="0"/>
              <a:t>TABLES</a:t>
            </a:r>
            <a:endParaRPr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3291840" y="666205"/>
            <a:ext cx="2247882" cy="1581695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/>
              <a:t>Products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product_name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category_id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cost_price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selling_price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reorder_level</a:t>
            </a:r>
            <a:endParaRPr sz="1200" dirty="0"/>
          </a:p>
        </p:txBody>
      </p:sp>
      <p:sp>
        <p:nvSpPr>
          <p:cNvPr id="4" name="Rounded Rectangle 3"/>
          <p:cNvSpPr/>
          <p:nvPr/>
        </p:nvSpPr>
        <p:spPr>
          <a:xfrm>
            <a:off x="340178" y="822414"/>
            <a:ext cx="1810293" cy="1269275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lang="en-US" sz="1200" dirty="0"/>
              <a:t>	</a:t>
            </a:r>
            <a:r>
              <a:rPr sz="1200" dirty="0"/>
              <a:t>Categories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category_id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category_name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description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1779" y="754380"/>
            <a:ext cx="2103121" cy="1493520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/>
              <a:t>Suppliers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supplier_id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supplier_name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contact_number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email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address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14700" y="2618473"/>
            <a:ext cx="2247882" cy="1143477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lang="en-US" sz="1200" dirty="0"/>
              <a:t>	</a:t>
            </a:r>
            <a:r>
              <a:rPr sz="1200" dirty="0" err="1"/>
              <a:t>ProductSuppliers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ps_id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supplier_id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lead_time_days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last_price</a:t>
            </a:r>
            <a:endParaRPr sz="1200" dirty="0"/>
          </a:p>
        </p:txBody>
      </p:sp>
      <p:sp>
        <p:nvSpPr>
          <p:cNvPr id="7" name="Rounded Rectangle 6"/>
          <p:cNvSpPr/>
          <p:nvPr/>
        </p:nvSpPr>
        <p:spPr>
          <a:xfrm>
            <a:off x="231865" y="2530525"/>
            <a:ext cx="2026920" cy="1269275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lang="en-US" sz="1200" dirty="0"/>
              <a:t>	</a:t>
            </a:r>
            <a:r>
              <a:rPr sz="1200" dirty="0"/>
              <a:t>Warehouses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warehouse_id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warehouse_name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8991" y="4132523"/>
            <a:ext cx="2202162" cy="978625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/>
              <a:t>Inventory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inventory_id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warehouse_id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current_stock</a:t>
            </a:r>
            <a:endParaRPr sz="1200" dirty="0"/>
          </a:p>
        </p:txBody>
      </p:sp>
      <p:sp>
        <p:nvSpPr>
          <p:cNvPr id="9" name="Rounded Rectangle 8"/>
          <p:cNvSpPr/>
          <p:nvPr/>
        </p:nvSpPr>
        <p:spPr>
          <a:xfrm>
            <a:off x="6641359" y="2769563"/>
            <a:ext cx="2083542" cy="1581694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 err="1"/>
              <a:t>StockMovements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movement_id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warehouse_id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supplier_id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movement_type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quantity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movement_date</a:t>
            </a: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231865" y="4351257"/>
            <a:ext cx="2073726" cy="1470184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/>
              <a:t>Customers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customer_id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customer_name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phone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email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address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1" y="5481721"/>
            <a:ext cx="2247881" cy="1143477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/>
              <a:t>Orders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order_id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customer_id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order_date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order_status</a:t>
            </a:r>
            <a:endParaRPr sz="1200" dirty="0"/>
          </a:p>
        </p:txBody>
      </p:sp>
      <p:sp>
        <p:nvSpPr>
          <p:cNvPr id="12" name="Rounded Rectangle 11"/>
          <p:cNvSpPr/>
          <p:nvPr/>
        </p:nvSpPr>
        <p:spPr>
          <a:xfrm>
            <a:off x="6664253" y="4878433"/>
            <a:ext cx="1999687" cy="1581694"/>
          </a:xfrm>
          <a:prstGeom prst="roundRect">
            <a:avLst/>
          </a:prstGeom>
          <a:solidFill>
            <a:srgbClr val="28282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4682B4"/>
                </a:solidFill>
              </a:defRPr>
            </a:pPr>
            <a:r>
              <a:rPr sz="1200" dirty="0" err="1"/>
              <a:t>OrderItems</a:t>
            </a:r>
            <a:endParaRPr sz="1200" dirty="0"/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item_id</a:t>
            </a:r>
            <a:r>
              <a:rPr sz="1200" dirty="0"/>
              <a:t> (PK)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order_id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product_id</a:t>
            </a:r>
            <a:r>
              <a:rPr sz="1200" dirty="0"/>
              <a:t> (FK)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/>
              <a:t>quantity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rPr sz="1200" dirty="0" err="1"/>
              <a:t>price_at_order</a:t>
            </a:r>
            <a:endParaRPr sz="1200" dirty="0"/>
          </a:p>
        </p:txBody>
      </p:sp>
      <p:cxnSp>
        <p:nvCxnSpPr>
          <p:cNvPr id="13" name="Connector 12"/>
          <p:cNvCxnSpPr/>
          <p:nvPr/>
        </p:nvCxnSpPr>
        <p:spPr>
          <a:xfrm flipV="1">
            <a:off x="0" y="914400"/>
            <a:ext cx="0" cy="164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237744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0" y="2377440"/>
            <a:ext cx="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2377440"/>
            <a:ext cx="0" cy="128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0" y="3657600"/>
            <a:ext cx="0" cy="164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2377440"/>
            <a:ext cx="0" cy="128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0" y="3657600"/>
            <a:ext cx="0" cy="164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2377440"/>
            <a:ext cx="0" cy="12801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0" y="5669280"/>
            <a:ext cx="0" cy="164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0" y="5669280"/>
            <a:ext cx="0" cy="164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2377440"/>
            <a:ext cx="0" cy="3291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20EC3D-B94D-1AA6-3A53-6C515DEAB28E}"/>
              </a:ext>
            </a:extLst>
          </p:cNvPr>
          <p:cNvSpPr>
            <a:spLocks noGrp="1"/>
          </p:cNvSpPr>
          <p:nvPr/>
        </p:nvSpPr>
        <p:spPr>
          <a:xfrm>
            <a:off x="1623296" y="-87841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E2496079-E63E-2441-BFA9-91C406547596}"/>
              </a:ext>
            </a:extLst>
          </p:cNvPr>
          <p:cNvSpPr>
            <a:spLocks noGrp="1"/>
          </p:cNvSpPr>
          <p:nvPr/>
        </p:nvSpPr>
        <p:spPr>
          <a:xfrm>
            <a:off x="701040" y="3957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dirty="0"/>
          </a:p>
        </p:txBody>
      </p:sp>
      <p:sp>
        <p:nvSpPr>
          <p:cNvPr id="69" name="Title 1">
            <a:extLst>
              <a:ext uri="{FF2B5EF4-FFF2-40B4-BE49-F238E27FC236}">
                <a16:creationId xmlns:a16="http://schemas.microsoft.com/office/drawing/2014/main" id="{D3417EB2-27A5-3C83-9A6F-3E378FD80D17}"/>
              </a:ext>
            </a:extLst>
          </p:cNvPr>
          <p:cNvSpPr>
            <a:spLocks noGrp="1"/>
          </p:cNvSpPr>
          <p:nvPr/>
        </p:nvSpPr>
        <p:spPr>
          <a:xfrm>
            <a:off x="914400" y="395771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dirty="0"/>
          </a:p>
        </p:txBody>
      </p:sp>
      <p:sp>
        <p:nvSpPr>
          <p:cNvPr id="105" name="Title 1">
            <a:extLst>
              <a:ext uri="{FF2B5EF4-FFF2-40B4-BE49-F238E27FC236}">
                <a16:creationId xmlns:a16="http://schemas.microsoft.com/office/drawing/2014/main" id="{2957EC6A-ABFF-0F60-B4BB-D705068C012D}"/>
              </a:ext>
            </a:extLst>
          </p:cNvPr>
          <p:cNvSpPr>
            <a:spLocks noGrp="1"/>
          </p:cNvSpPr>
          <p:nvPr/>
        </p:nvSpPr>
        <p:spPr>
          <a:xfrm>
            <a:off x="3392487" y="174942"/>
            <a:ext cx="2607310" cy="4902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ER</a:t>
            </a:r>
            <a:r>
              <a:t> Diagram 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BC3D1CD-AC6B-C353-AB61-092058661555}"/>
              </a:ext>
            </a:extLst>
          </p:cNvPr>
          <p:cNvSpPr/>
          <p:nvPr/>
        </p:nvSpPr>
        <p:spPr>
          <a:xfrm>
            <a:off x="307022" y="987107"/>
            <a:ext cx="2308860" cy="1288415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Categories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category_id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category_name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description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FF72448-CE4B-91E6-7881-46F561B83D76}"/>
              </a:ext>
            </a:extLst>
          </p:cNvPr>
          <p:cNvSpPr/>
          <p:nvPr/>
        </p:nvSpPr>
        <p:spPr>
          <a:xfrm>
            <a:off x="307022" y="693102"/>
            <a:ext cx="2302511" cy="294005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35C6D33C-6C70-AA93-5093-5DC8DD538B09}"/>
              </a:ext>
            </a:extLst>
          </p:cNvPr>
          <p:cNvSpPr/>
          <p:nvPr/>
        </p:nvSpPr>
        <p:spPr>
          <a:xfrm>
            <a:off x="3144837" y="966787"/>
            <a:ext cx="2484755" cy="1325245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Products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product_id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product_name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category_id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cost_price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selling_price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reorder_level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5819133-EB3D-973B-9C1F-956DC9158210}"/>
              </a:ext>
            </a:extLst>
          </p:cNvPr>
          <p:cNvSpPr/>
          <p:nvPr/>
        </p:nvSpPr>
        <p:spPr>
          <a:xfrm>
            <a:off x="3157537" y="693102"/>
            <a:ext cx="2470150" cy="273685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827CAD0-4F8E-EC76-AF9F-5CC55D1F8FF7}"/>
              </a:ext>
            </a:extLst>
          </p:cNvPr>
          <p:cNvSpPr/>
          <p:nvPr/>
        </p:nvSpPr>
        <p:spPr>
          <a:xfrm>
            <a:off x="6432232" y="938847"/>
            <a:ext cx="2470150" cy="149225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Suppliers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supplier_id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supplier_name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contact_number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email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address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03710AE-1DF0-D8F2-BAEC-A4341BAF1801}"/>
              </a:ext>
            </a:extLst>
          </p:cNvPr>
          <p:cNvSpPr/>
          <p:nvPr/>
        </p:nvSpPr>
        <p:spPr>
          <a:xfrm>
            <a:off x="6432232" y="665162"/>
            <a:ext cx="2470150" cy="273685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A21DD88-3440-9846-7F9D-5D07D7D58C97}"/>
              </a:ext>
            </a:extLst>
          </p:cNvPr>
          <p:cNvSpPr/>
          <p:nvPr/>
        </p:nvSpPr>
        <p:spPr>
          <a:xfrm>
            <a:off x="3151187" y="2803207"/>
            <a:ext cx="2372995" cy="134366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rPr dirty="0" err="1"/>
              <a:t>ProductSuppliers</a:t>
            </a:r>
            <a:endParaRPr dirty="0"/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rPr dirty="0" err="1"/>
              <a:t>ps_id</a:t>
            </a:r>
            <a:r>
              <a:rPr dirty="0"/>
              <a:t>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rPr dirty="0" err="1"/>
              <a:t>product_id</a:t>
            </a:r>
            <a:r>
              <a:rPr dirty="0"/>
              <a:t>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rPr dirty="0" err="1"/>
              <a:t>supplier_id</a:t>
            </a:r>
            <a:r>
              <a:rPr dirty="0"/>
              <a:t>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rPr dirty="0" err="1"/>
              <a:t>lead_time_days</a:t>
            </a:r>
            <a:endParaRPr dirty="0"/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rPr dirty="0" err="1"/>
              <a:t>last_price</a:t>
            </a:r>
            <a:endParaRPr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ABDEA53-FD40-5404-9FD9-71427ACE69EE}"/>
              </a:ext>
            </a:extLst>
          </p:cNvPr>
          <p:cNvSpPr/>
          <p:nvPr/>
        </p:nvSpPr>
        <p:spPr>
          <a:xfrm>
            <a:off x="3151187" y="2556827"/>
            <a:ext cx="2379345" cy="260350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6BFE02D8-15CB-9F51-DF6D-AD6566EC449F}"/>
              </a:ext>
            </a:extLst>
          </p:cNvPr>
          <p:cNvSpPr/>
          <p:nvPr/>
        </p:nvSpPr>
        <p:spPr>
          <a:xfrm>
            <a:off x="311467" y="3087052"/>
            <a:ext cx="2302510" cy="1486535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Warehouses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warehouse_id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warehouse_name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location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15F130D-D46B-E031-62F9-F177DA4D3797}"/>
              </a:ext>
            </a:extLst>
          </p:cNvPr>
          <p:cNvSpPr/>
          <p:nvPr/>
        </p:nvSpPr>
        <p:spPr>
          <a:xfrm>
            <a:off x="307022" y="2835061"/>
            <a:ext cx="2302511" cy="252626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E07119D-629F-BB56-B392-E66335FBE7AC}"/>
              </a:ext>
            </a:extLst>
          </p:cNvPr>
          <p:cNvSpPr/>
          <p:nvPr/>
        </p:nvSpPr>
        <p:spPr>
          <a:xfrm>
            <a:off x="3155632" y="4407217"/>
            <a:ext cx="2374900" cy="123190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Inventory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inventory_id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product_id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warehouse_id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current_stock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E233FF3-6DBC-B6A9-6098-F555DC648496}"/>
              </a:ext>
            </a:extLst>
          </p:cNvPr>
          <p:cNvSpPr/>
          <p:nvPr/>
        </p:nvSpPr>
        <p:spPr>
          <a:xfrm>
            <a:off x="6540182" y="3151822"/>
            <a:ext cx="2330450" cy="146304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StockMovements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movement_id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product_id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warehouse_id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supplier_id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movement_type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quantity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movement_date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8E00158-0C36-5A85-B9DD-7AC6957DD345}"/>
              </a:ext>
            </a:extLst>
          </p:cNvPr>
          <p:cNvSpPr/>
          <p:nvPr/>
        </p:nvSpPr>
        <p:spPr>
          <a:xfrm>
            <a:off x="6540182" y="2851467"/>
            <a:ext cx="2330450" cy="300355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B20C570-4DA5-9612-70EE-C3A8DDF2B23D}"/>
              </a:ext>
            </a:extLst>
          </p:cNvPr>
          <p:cNvSpPr/>
          <p:nvPr/>
        </p:nvSpPr>
        <p:spPr>
          <a:xfrm>
            <a:off x="241617" y="5064442"/>
            <a:ext cx="2458085" cy="1188085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Customers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customer_id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customer_name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phone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email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address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9F01902-1839-F8A0-1AE2-5E454482AA89}"/>
              </a:ext>
            </a:extLst>
          </p:cNvPr>
          <p:cNvSpPr/>
          <p:nvPr/>
        </p:nvSpPr>
        <p:spPr>
          <a:xfrm>
            <a:off x="266382" y="4846002"/>
            <a:ext cx="2432685" cy="218440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2C52904-42BD-2A0A-B345-A431743CD3EC}"/>
              </a:ext>
            </a:extLst>
          </p:cNvPr>
          <p:cNvSpPr/>
          <p:nvPr/>
        </p:nvSpPr>
        <p:spPr>
          <a:xfrm>
            <a:off x="3171507" y="5781992"/>
            <a:ext cx="2395855" cy="901065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Orders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order_id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customer_id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order_date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order_status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9BEC871-17CE-165D-CAE7-52273536D600}"/>
              </a:ext>
            </a:extLst>
          </p:cNvPr>
          <p:cNvSpPr/>
          <p:nvPr/>
        </p:nvSpPr>
        <p:spPr>
          <a:xfrm>
            <a:off x="6432232" y="5114607"/>
            <a:ext cx="2390775" cy="126873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1">
                <a:solidFill>
                  <a:srgbClr val="0078FF"/>
                </a:solidFill>
              </a:defRPr>
            </a:pPr>
            <a:r>
              <a:t>OrderItems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item_id (PK)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order_id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product_id (FK)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quantity</a:t>
            </a:r>
          </a:p>
          <a:p>
            <a:pPr lvl="1">
              <a:defRPr sz="1000">
                <a:solidFill>
                  <a:srgbClr val="FFFFFF"/>
                </a:solidFill>
              </a:defRPr>
            </a:pPr>
            <a:r>
              <a:t>price_at_order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287D764-2BC6-1C04-F1CB-0521C3266803}"/>
              </a:ext>
            </a:extLst>
          </p:cNvPr>
          <p:cNvSpPr/>
          <p:nvPr/>
        </p:nvSpPr>
        <p:spPr>
          <a:xfrm>
            <a:off x="6427738" y="4846002"/>
            <a:ext cx="2395270" cy="267970"/>
          </a:xfrm>
          <a:prstGeom prst="rect">
            <a:avLst/>
          </a:prstGeom>
          <a:solidFill>
            <a:srgbClr val="0078FF"/>
          </a:solidFill>
          <a:ln>
            <a:solidFill>
              <a:srgbClr val="0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cxnSp>
        <p:nvCxnSpPr>
          <p:cNvPr id="125" name="Connector 23">
            <a:extLst>
              <a:ext uri="{FF2B5EF4-FFF2-40B4-BE49-F238E27FC236}">
                <a16:creationId xmlns:a16="http://schemas.microsoft.com/office/drawing/2014/main" id="{52FC35EA-52EA-7BF9-6A79-F5DB1626FB4D}"/>
              </a:ext>
            </a:extLst>
          </p:cNvPr>
          <p:cNvCxnSpPr/>
          <p:nvPr/>
        </p:nvCxnSpPr>
        <p:spPr>
          <a:xfrm>
            <a:off x="4604702" y="276764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24">
            <a:extLst>
              <a:ext uri="{FF2B5EF4-FFF2-40B4-BE49-F238E27FC236}">
                <a16:creationId xmlns:a16="http://schemas.microsoft.com/office/drawing/2014/main" id="{BCFC4172-0A1C-50BC-8049-881C99EBA226}"/>
              </a:ext>
            </a:extLst>
          </p:cNvPr>
          <p:cNvCxnSpPr/>
          <p:nvPr/>
        </p:nvCxnSpPr>
        <p:spPr>
          <a:xfrm flipH="1">
            <a:off x="5530532" y="1809432"/>
            <a:ext cx="902970" cy="100774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25">
            <a:extLst>
              <a:ext uri="{FF2B5EF4-FFF2-40B4-BE49-F238E27FC236}">
                <a16:creationId xmlns:a16="http://schemas.microsoft.com/office/drawing/2014/main" id="{F208B058-27CC-3F6E-8880-10CD1F030CC9}"/>
              </a:ext>
            </a:extLst>
          </p:cNvPr>
          <p:cNvCxnSpPr>
            <a:cxnSpLocks/>
          </p:cNvCxnSpPr>
          <p:nvPr/>
        </p:nvCxnSpPr>
        <p:spPr>
          <a:xfrm>
            <a:off x="4237355" y="2292985"/>
            <a:ext cx="0" cy="28729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26">
            <a:extLst>
              <a:ext uri="{FF2B5EF4-FFF2-40B4-BE49-F238E27FC236}">
                <a16:creationId xmlns:a16="http://schemas.microsoft.com/office/drawing/2014/main" id="{7C7526B1-D1E9-DD76-A7B7-2FABFA540FEE}"/>
              </a:ext>
            </a:extLst>
          </p:cNvPr>
          <p:cNvCxnSpPr>
            <a:cxnSpLocks/>
          </p:cNvCxnSpPr>
          <p:nvPr/>
        </p:nvCxnSpPr>
        <p:spPr>
          <a:xfrm>
            <a:off x="2616182" y="4001044"/>
            <a:ext cx="541655" cy="143256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27">
            <a:extLst>
              <a:ext uri="{FF2B5EF4-FFF2-40B4-BE49-F238E27FC236}">
                <a16:creationId xmlns:a16="http://schemas.microsoft.com/office/drawing/2014/main" id="{A6C2ED9D-0011-F8DF-FC8B-CDA62557F8BE}"/>
              </a:ext>
            </a:extLst>
          </p:cNvPr>
          <p:cNvCxnSpPr/>
          <p:nvPr/>
        </p:nvCxnSpPr>
        <p:spPr>
          <a:xfrm>
            <a:off x="5628957" y="1809432"/>
            <a:ext cx="911225" cy="120269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29">
            <a:extLst>
              <a:ext uri="{FF2B5EF4-FFF2-40B4-BE49-F238E27FC236}">
                <a16:creationId xmlns:a16="http://schemas.microsoft.com/office/drawing/2014/main" id="{F72D5232-BC56-22D7-4169-9D380ABAB61D}"/>
              </a:ext>
            </a:extLst>
          </p:cNvPr>
          <p:cNvCxnSpPr>
            <a:cxnSpLocks/>
            <a:endCxn id="118" idx="0"/>
          </p:cNvCxnSpPr>
          <p:nvPr/>
        </p:nvCxnSpPr>
        <p:spPr>
          <a:xfrm flipH="1">
            <a:off x="7705407" y="2431097"/>
            <a:ext cx="7620" cy="420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30">
            <a:extLst>
              <a:ext uri="{FF2B5EF4-FFF2-40B4-BE49-F238E27FC236}">
                <a16:creationId xmlns:a16="http://schemas.microsoft.com/office/drawing/2014/main" id="{A535C14B-BF96-2A53-D23F-ED32E4B92A1F}"/>
              </a:ext>
            </a:extLst>
          </p:cNvPr>
          <p:cNvCxnSpPr>
            <a:stCxn id="119" idx="3"/>
          </p:cNvCxnSpPr>
          <p:nvPr/>
        </p:nvCxnSpPr>
        <p:spPr>
          <a:xfrm>
            <a:off x="2699702" y="5658802"/>
            <a:ext cx="457835" cy="375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31">
            <a:extLst>
              <a:ext uri="{FF2B5EF4-FFF2-40B4-BE49-F238E27FC236}">
                <a16:creationId xmlns:a16="http://schemas.microsoft.com/office/drawing/2014/main" id="{4BD9E909-8B8B-554E-923E-CE135B9143A6}"/>
              </a:ext>
            </a:extLst>
          </p:cNvPr>
          <p:cNvCxnSpPr>
            <a:cxnSpLocks/>
            <a:stCxn id="121" idx="3"/>
          </p:cNvCxnSpPr>
          <p:nvPr/>
        </p:nvCxnSpPr>
        <p:spPr>
          <a:xfrm flipV="1">
            <a:off x="5567362" y="5781992"/>
            <a:ext cx="864870" cy="450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32">
            <a:extLst>
              <a:ext uri="{FF2B5EF4-FFF2-40B4-BE49-F238E27FC236}">
                <a16:creationId xmlns:a16="http://schemas.microsoft.com/office/drawing/2014/main" id="{304E6BE2-D7DD-0153-2456-B61DB5EBF766}"/>
              </a:ext>
            </a:extLst>
          </p:cNvPr>
          <p:cNvCxnSpPr>
            <a:cxnSpLocks/>
          </p:cNvCxnSpPr>
          <p:nvPr/>
        </p:nvCxnSpPr>
        <p:spPr>
          <a:xfrm>
            <a:off x="5598795" y="2275840"/>
            <a:ext cx="836612" cy="302323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927BA42D-1D06-152D-BDE8-83845ECB0C0E}"/>
              </a:ext>
            </a:extLst>
          </p:cNvPr>
          <p:cNvCxnSpPr/>
          <p:nvPr/>
        </p:nvCxnSpPr>
        <p:spPr>
          <a:xfrm>
            <a:off x="5567362" y="4846002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55B34C8-B9B8-7F2B-F330-7DCD487933C7}"/>
              </a:ext>
            </a:extLst>
          </p:cNvPr>
          <p:cNvCxnSpPr/>
          <p:nvPr/>
        </p:nvCxnSpPr>
        <p:spPr>
          <a:xfrm>
            <a:off x="3171507" y="4407535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Arc 143">
            <a:extLst>
              <a:ext uri="{FF2B5EF4-FFF2-40B4-BE49-F238E27FC236}">
                <a16:creationId xmlns:a16="http://schemas.microsoft.com/office/drawing/2014/main" id="{45D25A5D-515E-1C80-A000-5EA05FB58C16}"/>
              </a:ext>
            </a:extLst>
          </p:cNvPr>
          <p:cNvSpPr/>
          <p:nvPr/>
        </p:nvSpPr>
        <p:spPr>
          <a:xfrm flipV="1">
            <a:off x="5293166" y="1537802"/>
            <a:ext cx="766019" cy="3722509"/>
          </a:xfrm>
          <a:prstGeom prst="arc">
            <a:avLst>
              <a:gd name="adj1" fmla="val 15954166"/>
              <a:gd name="adj2" fmla="val 553066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D02EF6-4048-444C-C5C9-9A482B2FF25C}"/>
              </a:ext>
            </a:extLst>
          </p:cNvPr>
          <p:cNvCxnSpPr>
            <a:cxnSpLocks/>
            <a:stCxn id="108" idx="1"/>
            <a:endCxn id="106" idx="3"/>
          </p:cNvCxnSpPr>
          <p:nvPr/>
        </p:nvCxnSpPr>
        <p:spPr>
          <a:xfrm flipH="1">
            <a:off x="2615882" y="1629410"/>
            <a:ext cx="528955" cy="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47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Important Triggers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trg_update_inventory_after_movement</a:t>
            </a:r>
            <a:r>
              <a:rPr dirty="0"/>
              <a:t> – Auto-updates stock based on IN/OUT movements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lang="en-US" dirty="0"/>
              <a:t> </a:t>
            </a:r>
            <a:r>
              <a:rPr dirty="0" err="1"/>
              <a:t>trg_prevent_negative_stock</a:t>
            </a:r>
            <a:r>
              <a:rPr lang="en-US" dirty="0"/>
              <a:t> -</a:t>
            </a:r>
            <a:r>
              <a:rPr dirty="0"/>
              <a:t> Ensures stock never goes below zero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Key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PROC_PlaceOrder</a:t>
            </a:r>
            <a:r>
              <a:rPr dirty="0"/>
              <a:t> – Handles customer order workflow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sz="2800" dirty="0" err="1"/>
              <a:t>PROC_AddStock</a:t>
            </a:r>
            <a:r>
              <a:rPr sz="2800" dirty="0"/>
              <a:t> – Inserts stock movements for IN transactions</a:t>
            </a:r>
            <a:endParaRPr lang="en-US" sz="2800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PROC_LowStockItems</a:t>
            </a:r>
            <a:r>
              <a:rPr dirty="0"/>
              <a:t> – Lists products below reorder level</a:t>
            </a:r>
            <a:endParaRPr lang="en-US" dirty="0"/>
          </a:p>
          <a:p>
            <a:pPr>
              <a:defRPr>
                <a:solidFill>
                  <a:srgbClr val="DCDCDC"/>
                </a:solidFill>
              </a:defRPr>
            </a:pPr>
            <a:r>
              <a:rPr dirty="0" err="1"/>
              <a:t>PROC_WarehouseSummary</a:t>
            </a:r>
            <a:r>
              <a:rPr dirty="0"/>
              <a:t> – Displays warehouse stock levels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Project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dirty="0"/>
              <a:t>I</a:t>
            </a:r>
            <a:r>
              <a:rPr dirty="0"/>
              <a:t>nventory </a:t>
            </a:r>
            <a:r>
              <a:rPr lang="en-US" dirty="0"/>
              <a:t>Management </a:t>
            </a:r>
            <a:r>
              <a:rPr dirty="0"/>
              <a:t>system built using MySQL.</a:t>
            </a:r>
          </a:p>
          <a:p>
            <a:pPr lvl="1">
              <a:defRPr>
                <a:solidFill>
                  <a:srgbClr val="C8C8C8"/>
                </a:solidFill>
              </a:defRPr>
            </a:pPr>
            <a:r>
              <a:rPr dirty="0"/>
              <a:t>10 interconnected tables with 500+ sample rows.</a:t>
            </a:r>
          </a:p>
          <a:p>
            <a:pPr lvl="1">
              <a:defRPr>
                <a:solidFill>
                  <a:srgbClr val="C8C8C8"/>
                </a:solidFill>
              </a:defRPr>
            </a:pPr>
            <a:r>
              <a:rPr dirty="0"/>
              <a:t>Automated stock adjustments using triggers.</a:t>
            </a:r>
          </a:p>
          <a:p>
            <a:pPr lvl="1">
              <a:defRPr>
                <a:solidFill>
                  <a:srgbClr val="C8C8C8"/>
                </a:solidFill>
              </a:defRPr>
            </a:pPr>
            <a:r>
              <a:rPr dirty="0"/>
              <a:t>4 main stored procedures covering business workflows.</a:t>
            </a:r>
          </a:p>
          <a:p>
            <a:pPr lvl="1">
              <a:defRPr>
                <a:solidFill>
                  <a:srgbClr val="C8C8C8"/>
                </a:solidFill>
              </a:defRPr>
            </a:pPr>
            <a:r>
              <a:rPr dirty="0"/>
              <a:t>Supports order processing, stock IN/OUT, and low-stock detection.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72741"/>
            <a:ext cx="8229600" cy="1143000"/>
          </a:xfrm>
        </p:spPr>
        <p:txBody>
          <a:bodyPr/>
          <a:lstStyle/>
          <a:p>
            <a:pPr>
              <a:defRPr>
                <a:solidFill>
                  <a:srgbClr val="4682B4"/>
                </a:solidFill>
              </a:defRPr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661</Words>
  <Application>Microsoft Office PowerPoint</Application>
  <PresentationFormat>On-screen Show (4:3)</PresentationFormat>
  <Paragraphs>157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INVENTORY MANAGEMENT SYSTEM (IMS) </vt:lpstr>
      <vt:lpstr>CONTENTS</vt:lpstr>
      <vt:lpstr>INTRODUCTION</vt:lpstr>
      <vt:lpstr>ROLE OF SQL</vt:lpstr>
      <vt:lpstr>ERD Overview</vt:lpstr>
      <vt:lpstr>ER TABLES</vt:lpstr>
      <vt:lpstr>PowerPoint Presentation</vt:lpstr>
      <vt:lpstr>Important Triggers</vt:lpstr>
      <vt:lpstr>Key Stored Procedures</vt:lpstr>
      <vt:lpstr>Project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NAGULRAJ</dc:creator>
  <cp:keywords/>
  <dc:description>generated using python-pptx</dc:description>
  <cp:lastModifiedBy>NAGULRAJ A</cp:lastModifiedBy>
  <cp:revision>5</cp:revision>
  <dcterms:created xsi:type="dcterms:W3CDTF">2013-01-27T09:14:16Z</dcterms:created>
  <dcterms:modified xsi:type="dcterms:W3CDTF">2025-12-06T20:11:23Z</dcterms:modified>
  <cp:category/>
</cp:coreProperties>
</file>